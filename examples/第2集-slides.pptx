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开场抓住观众注意力，抛出核心问题：病毒到底是一种什么生命？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从人们熟悉的疾病入手，建立病毒与日常生活的关联。强调我们对病毒的了解还很有限。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中学课本级别的基础知识回顾。但仅凭这些描述，很难体会病毒的奇异之处。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用三句话总结病毒的核心特性，为后续三个章节做预告。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第一章：病毒将全部生命活动转交宿主，是真正意义上的完美寄生者。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通过对比表格，直观展示病毒与寄生虫的本质区别。寄生虫仍需自己完成生存繁殖，病毒则全部外包。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病毒生命分成黑白分明的两个阶段：细胞外完全沉寂，细胞内完全活跃。这是真正意义上的完美寄生。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第二章：完美的寄生能力让病毒有条件发展出极简主义的生活方式。以乙肝病毒为例。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乙肝病毒基因组不到大肠杆菌的千分之一，不到人类的百万分之一。只有4个基因，极简到极致。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乙肝病毒无非是蛋白质外壳+DNA。寄生能力和极简生活方式相辅相成。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第三章：病毒发展出与所有其他地球生命完全不同的特性，是地地道道的规则破坏者。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地球生命五花八门，很难找到底层逻辑。但即使如此，病毒仍然突破了许多基本法则。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病毒在宿主细胞之外不需要能量输入来维持生存，打破了热力学第二定律对生命的要求。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病毒记录和使用遗传信息的方式多种多样。中心法则在病毒这里彻底失灵。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病毒连形状都不按常理出牌。绝大多数地球生命没有规则外形，但很多病毒却是数学上完美的几何形状。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回顾三大核心要点：完美寄生者、极简主义者、规则破坏者。这三个词让病毒鹤立鸡群。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预告下一讲内容：病毒为什么会让人生病？它们又是怎么让人生病的？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" cy="109728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2194560" cy="36576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病毒到底是一种</a:t>
            </a:r>
            <a:endParaRPr lang="en-US" sz="4600" dirty="0"/>
          </a:p>
          <a:p>
            <a:pPr algn="ctr"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什么生命？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3474720" y="3657600"/>
            <a:ext cx="2194560" cy="36576"/>
          </a:xfrm>
          <a:prstGeom prst="rect">
            <a:avLst/>
          </a:prstGeom>
          <a:solidFill>
            <a:srgbClr val="F08C3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王丽明 · 病毒科学课 第2讲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今天我们要聊什么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6858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病毒与人类疾病的关系
</a:t>
            </a:r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病毒的三大核心特性
</a:t>
            </a:r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为什么病毒如此特别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484094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病毒的基本描述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7132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结构特征：</a:t>
            </a:r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非细胞形态微生物，蛋白质外壳包裹 DNA 或 RNA
</a:t>
            </a:r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尺寸范围：</a:t>
            </a:r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几十到几百纳米，比细菌小得多，需电子显微镜观察
</a:t>
            </a:r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关键特性：</a:t>
            </a:r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无法独立生长和繁殖，必须寄生于其他生物体内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968188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548640"/>
            <a:ext cx="1645920" cy="1645920"/>
          </a:xfrm>
          <a:prstGeom prst="ellipse">
            <a:avLst/>
          </a:prstGeom>
          <a:solidFill>
            <a:srgbClr val="00A8CC">
              <a:alpha val="5000"/>
            </a:srgbClr>
          </a:solidFill>
          <a:ln w="19050">
            <a:solidFill>
              <a:srgbClr val="00A8CC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6400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6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个关键词定义病毒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完美寄生者 · 极简主义者 · 规则破坏者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4892040"/>
            <a:ext cx="1452282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B5E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210312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83464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flipV="1">
            <a:off x="356616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29768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502920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649224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22376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795528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600" kern="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01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4688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完美寄生者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1828800" cy="36576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01:56 – 04:50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寄生虫 vs 病毒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46888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E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寄生虫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E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E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独立代谢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DBA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可以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85D5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不能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自主繁殖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DBA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可以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85D5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不能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能量消耗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DBA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需要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85D5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不需要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独立生存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DBA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完整生命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85D5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非严格生命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功能转移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小部分转移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8EC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全部转移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892040"/>
            <a:ext cx="2420471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病毒的两个生命阶段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188720"/>
            <a:ext cx="7132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阶段一：宿主细胞之外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完全静默 — 不呼吸不动不繁殖，与沙子石头无异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可在大自然中稳定存在超长时间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例：2014年西伯利亚永冻土中发现3万年前的活病毒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阶段二：进入宿主细胞内部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立刻展现全部生命迹象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利用宿主现成的能量和工具批量制造后代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后代离开细胞，回归沉寂，等待下一次入侵机会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2904565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7B5E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210312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83464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flipV="1">
            <a:off x="356616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29768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502920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649224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22376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795528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600" kern="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4688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极简主义者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1828800" cy="36576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04:50 – 07:15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乙肝病毒 — 极简设计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011680" cy="1463040"/>
          </a:xfrm>
          <a:prstGeom prst="roundRect">
            <a:avLst>
              <a:gd name="adj" fmla="val 6250"/>
            </a:avLst>
          </a:prstGeom>
          <a:solidFill>
            <a:srgbClr val="132D42"/>
          </a:solidFill>
          <a:ln w="15240">
            <a:solidFill>
              <a:srgbClr val="00A8CC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109728" cy="109728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600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结构层次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011680" cy="1463040"/>
          </a:xfrm>
          <a:prstGeom prst="roundRect">
            <a:avLst>
              <a:gd name="adj" fmla="val 6250"/>
            </a:avLst>
          </a:prstGeom>
          <a:solidFill>
            <a:srgbClr val="132D42"/>
          </a:solidFill>
          <a:ln w="15240">
            <a:solidFill>
              <a:srgbClr val="F08C3E">
                <a:alpha val="6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91640"/>
            <a:ext cx="109728" cy="109728"/>
          </a:xfrm>
          <a:prstGeom prst="ellipse">
            <a:avLst/>
          </a:prstGeom>
          <a:solidFill>
            <a:srgbClr val="F08C3E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600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29000" y="2331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基因数量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852160" y="1463040"/>
            <a:ext cx="2011680" cy="1463040"/>
          </a:xfrm>
          <a:prstGeom prst="roundRect">
            <a:avLst>
              <a:gd name="adj" fmla="val 6250"/>
            </a:avLst>
          </a:prstGeom>
          <a:solidFill>
            <a:srgbClr val="132D42"/>
          </a:solidFill>
          <a:ln w="15240">
            <a:solidFill>
              <a:srgbClr val="7B5EA7">
                <a:alpha val="6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89320" y="1691640"/>
            <a:ext cx="109728" cy="109728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600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kb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989320" y="2331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基因组大小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大肠杆菌：4,000+ 基因  |  人类：20,000+ 基因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4892040"/>
            <a:ext cx="3872753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F08C3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乙肝病毒的繁殖策略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188720"/>
            <a:ext cx="7132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4个基因 = 一份说明书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告诉人体细胞如何制造新一代乙肝病毒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4个蛋白质分工明确：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+ X 蛋白 → 复制病毒 DNA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+ S 蛋白 → 构建病毒外壳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组装流程：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识别肝脏细胞 → 脱膜 → 释放DNA → 借用宿主系统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生产蛋白质 + 复制DNA → 组装成新病毒颗粒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4356847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B5E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210312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83464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flipV="1">
            <a:off x="356616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29768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502920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649224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223760" y="914400"/>
            <a:ext cx="320040" cy="320040"/>
          </a:xfrm>
          <a:prstGeom prst="triangle">
            <a:avLst/>
          </a:prstGeom>
          <a:solidFill>
            <a:srgbClr val="E8ECF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7955280" y="1188720"/>
            <a:ext cx="320040" cy="320040"/>
          </a:xfrm>
          <a:prstGeom prst="triangle">
            <a:avLst/>
          </a:prstGeom>
          <a:solidFill>
            <a:srgbClr val="E8ECF0">
              <a:alpha val="1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600" kern="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4688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规则破坏者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1828800" cy="36576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07:15 – 11:11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8C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45720" cy="1645920"/>
          </a:xfrm>
          <a:prstGeom prst="rect">
            <a:avLst/>
          </a:prstGeom>
          <a:solidFill>
            <a:srgbClr val="E8ECF0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37160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000" i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「Never say never,</a:t>
            </a:r>
            <a:endParaRPr lang="en-US" sz="30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000" i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 never say forever」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716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生物学家的箴言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F08C3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打破能量法则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188720"/>
            <a:ext cx="7132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热力学第二定律：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孤立系统的混乱程度（熵）只会持续增大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生命体需要持续能量输入才能维持秩序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病毒的特例：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在宿主细胞之外，病毒无需能量输入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不展现任何生命特征 —— 和沙子石头没有区别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所有地球生命都需要能量维持生存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唯独病毒完全破坏了这条法则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5809129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打破中心法则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188720"/>
            <a:ext cx="7132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生物学中心法则：DNA → RNA → 蛋白质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所有地球生物都遵循这条遗传信息传递路径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病毒的多样性（逻辑上成立就一定有病毒在用）：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天花病毒 → 使用 DNA，与传统生物一致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流感/艾滋/新冠病毒 → 使用 RNA 代替 DNA
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乙肝病毒 → DNA 但先造 RNA 再反造 DNA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几乎只要逻辑上成立，就一定有病毒在这么用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6293224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形态各异的病毒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1188720"/>
            <a:ext cx="7132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乙肝病毒：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球形外层 + 正二十面体蛋白质壳（20个全等三角形）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T4噬菌体：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长得像人类设计的机器人 — 二十面体头 + 对称尾巴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新冠病毒：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直径120nm圆球 + 满身尖刺，像海胆/王冠装饰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6B82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因其外形得名「冠状病毒」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许多病毒呈现数学上完美的几何形状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6777318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7132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2400" b="1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lnSpc>
                <a:spcPts val="4000"/>
              </a:lnSpc>
              <a:buNone/>
            </a:pPr>
            <a:r>
              <a:rPr lang="en-US" sz="20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完美寄生者 — 将全部生命活动转交宿主
</a:t>
            </a:r>
            <a:pPr indent="0" marL="0">
              <a:lnSpc>
                <a:spcPts val="4000"/>
              </a:lnSpc>
              <a:buNone/>
            </a:pPr>
            <a:r>
              <a:rPr lang="en-US" sz="2400" b="1" dirty="0">
                <a:solidFill>
                  <a:srgbClr val="F08C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lnSpc>
                <a:spcPts val="4000"/>
              </a:lnSpc>
              <a:buNone/>
            </a:pPr>
            <a:r>
              <a:rPr lang="en-US" sz="20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极简主义者 — 用最少基因实现生命功能
</a:t>
            </a:r>
            <a:pPr indent="0" marL="0">
              <a:lnSpc>
                <a:spcPts val="4000"/>
              </a:lnSpc>
              <a:buNone/>
            </a:pPr>
            <a:r>
              <a:rPr lang="en-US" sz="24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lnSpc>
                <a:spcPts val="4000"/>
              </a:lnSpc>
              <a:buNone/>
            </a:pPr>
            <a:r>
              <a:rPr lang="en-US" sz="2000" dirty="0">
                <a:solidFill>
                  <a:srgbClr val="9BB0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规则破坏者 — 突破地球生命的共同法则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4892040"/>
            <a:ext cx="8229600" cy="22860"/>
          </a:xfrm>
          <a:prstGeom prst="rect">
            <a:avLst/>
          </a:prstGeom>
          <a:solidFill>
            <a:srgbClr val="1E3A5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892040"/>
            <a:ext cx="7261412" cy="22860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8C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457200"/>
            <a:ext cx="2743200" cy="2743200"/>
          </a:xfrm>
          <a:prstGeom prst="ellipse">
            <a:avLst/>
          </a:prstGeom>
          <a:solidFill>
            <a:srgbClr val="E8ECF0">
              <a:alpha val="7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下一讲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病毒如何让人生病？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200400" y="3200400"/>
            <a:ext cx="2743200" cy="27432"/>
          </a:xfrm>
          <a:prstGeom prst="rect">
            <a:avLst/>
          </a:prstGeom>
          <a:solidFill>
            <a:srgbClr val="E8ECF0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第三章 — 即将更新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8072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A8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&amp; 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54864"/>
          </a:xfrm>
          <a:prstGeom prst="rect">
            <a:avLst/>
          </a:prstGeom>
          <a:solidFill>
            <a:srgbClr val="00A8C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病毒科学课 第2讲 — 病毒到底是一种什么生命？</dc:title>
  <dc:subject>PptxGenJS Presentation</dc:subject>
  <dc:creator>王丽明</dc:creator>
  <cp:lastModifiedBy>王丽明</cp:lastModifiedBy>
  <cp:revision>1</cp:revision>
  <dcterms:created xsi:type="dcterms:W3CDTF">2026-07-06T10:22:33Z</dcterms:created>
  <dcterms:modified xsi:type="dcterms:W3CDTF">2026-07-06T10:22:33Z</dcterms:modified>
</cp:coreProperties>
</file>